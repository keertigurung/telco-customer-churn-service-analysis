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93" d="100"/>
          <a:sy n="93" d="100"/>
        </p:scale>
        <p:origin x="77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i Gurung" userId="e2354b7e34d2f498" providerId="LiveId" clId="{6A5D5A16-BD49-4300-9AF0-4CD736507CF3}"/>
    <pc:docChg chg="modSld">
      <pc:chgData name="Keerti Gurung" userId="e2354b7e34d2f498" providerId="LiveId" clId="{6A5D5A16-BD49-4300-9AF0-4CD736507CF3}" dt="2026-09-26T13:04:03.020" v="4" actId="20577"/>
      <pc:docMkLst>
        <pc:docMk/>
      </pc:docMkLst>
      <pc:sldChg chg="modSp mod">
        <pc:chgData name="Keerti Gurung" userId="e2354b7e34d2f498" providerId="LiveId" clId="{6A5D5A16-BD49-4300-9AF0-4CD736507CF3}" dt="2026-09-26T09:21:12.794" v="0" actId="20577"/>
        <pc:sldMkLst>
          <pc:docMk/>
          <pc:sldMk cId="1260033063" sldId="257"/>
        </pc:sldMkLst>
        <pc:spChg chg="mod">
          <ac:chgData name="Keerti Gurung" userId="e2354b7e34d2f498" providerId="LiveId" clId="{6A5D5A16-BD49-4300-9AF0-4CD736507CF3}" dt="2026-09-26T09:21:12.794" v="0" actId="20577"/>
          <ac:spMkLst>
            <pc:docMk/>
            <pc:sldMk cId="1260033063" sldId="257"/>
            <ac:spMk id="3" creationId="{6048DB77-D515-4C9F-8145-C4A6F3D9F36C}"/>
          </ac:spMkLst>
        </pc:spChg>
      </pc:sldChg>
      <pc:sldChg chg="modSp mod">
        <pc:chgData name="Keerti Gurung" userId="e2354b7e34d2f498" providerId="LiveId" clId="{6A5D5A16-BD49-4300-9AF0-4CD736507CF3}" dt="2026-09-26T13:04:03.020" v="4" actId="20577"/>
        <pc:sldMkLst>
          <pc:docMk/>
          <pc:sldMk cId="2883730065" sldId="259"/>
        </pc:sldMkLst>
        <pc:spChg chg="mod">
          <ac:chgData name="Keerti Gurung" userId="e2354b7e34d2f498" providerId="LiveId" clId="{6A5D5A16-BD49-4300-9AF0-4CD736507CF3}" dt="2026-09-26T13:04:03.020" v="4" actId="20577"/>
          <ac:spMkLst>
            <pc:docMk/>
            <pc:sldMk cId="2883730065" sldId="259"/>
            <ac:spMk id="6" creationId="{28BC3295-2C17-4FB7-8C26-A531E146177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421A-F77D-4956-8531-EEFCF84DC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5EC19-4DB7-4D65-B4B0-1162BD1CF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4424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7F7F5-B686-45CB-9642-6D810BBEC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CA5AE-A024-4162-99AC-788C03EE8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6ABC7-3F2B-4528-B83F-A92170290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6F65E-A05E-46B1-A15C-0B1D2AA24534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0181B-F7E2-420D-AD6B-DA0EA537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104D4-470B-4C03-94AF-1A556B312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04860-D67C-4F07-94DA-4CE0E5813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3788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FBA1-FE1F-4A2F-8C95-D8A67DE46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E6436-6CE7-48EE-B4C2-5CB5FE70E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C636B-A624-46FE-B224-74EF1D63F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6F65E-A05E-46B1-A15C-0B1D2AA24534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14BF6-5736-46CC-977E-B06EBE0E5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D43B2-725E-4220-A62D-D771CF32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04860-D67C-4F07-94DA-4CE0E5813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4665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3E809-9FD1-41E0-92A1-700B90245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C4864-9D65-4E12-9BBA-3F4ADFB14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FB5A3-74B5-4619-AEA2-20A0EA8CF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2AAB2-FC1C-4503-A33C-90E720E2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6F65E-A05E-46B1-A15C-0B1D2AA24534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EEC3B-6FFD-4D44-8A62-6FFFCAEDA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E23B5-0872-431E-B603-3C758C3D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04860-D67C-4F07-94DA-4CE0E5813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679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A75F0-32C7-4575-9FB1-A57CF2D63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1D1A9-F15B-4283-B215-7841E9D4E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1D29E4-74D9-4461-9616-312FA89C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DD528-177B-4B2F-8960-13474EE94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EEE87D-6E29-456F-AC02-1064535410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050B3B-CD3E-44C4-8582-0E1563999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6F65E-A05E-46B1-A15C-0B1D2AA24534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FD5FFD-0299-4AE5-B3B8-72FCC781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04F83-55BB-4FA1-A809-ED478D948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04860-D67C-4F07-94DA-4CE0E5813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396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18EAA-3050-4412-B8A7-C4C860743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966C8F-23C0-4A13-987F-B65AF4EC9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6F65E-A05E-46B1-A15C-0B1D2AA24534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9B7CE5-165F-4061-89E7-C3CF75310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7509D-345E-4BAB-B89E-01554461A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04860-D67C-4F07-94DA-4CE0E5813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8071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1296BA-50E5-442B-BDDF-986070F3F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6F65E-A05E-46B1-A15C-0B1D2AA24534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1C7031-73F0-4069-8ED2-E53CD8F5A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67A15-77E8-4A17-A360-250769BA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04860-D67C-4F07-94DA-4CE0E5813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895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4062C-A8B2-43FE-9A3C-F9391A71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7AAA6-321C-4AC2-A113-F9DA563D0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33F6E-32E6-486E-820E-E2093F5A0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1BCA2-6297-4932-A257-304B0432A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6F65E-A05E-46B1-A15C-0B1D2AA24534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429CF-CC9D-4252-A6CF-EDEF921C3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7BD68-6D93-4A5A-9F20-10594BA07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04860-D67C-4F07-94DA-4CE0E5813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075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58EAB-4FAF-4133-830B-0E75B399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E2D46A-4661-4248-847D-65DD6B8B2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BAEA3-B0DC-4D61-8820-73610D1FB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A6AC1-4BA3-47C8-B9BC-B2C65316A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6F65E-A05E-46B1-A15C-0B1D2AA24534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F8F09-C415-4F68-9478-2E744C6C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7E1DB-345F-4BC0-A578-CAFA6C236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04860-D67C-4F07-94DA-4CE0E5813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911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D147-EF43-476C-866E-C8D1B065E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5977FC-4F29-47EF-9E0C-0DE70E600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37E03-0547-474C-B702-DB88F9A0E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6F65E-A05E-46B1-A15C-0B1D2AA24534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74FAD-1A08-489F-B888-E97DF651B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A256B-6C00-448F-9D04-F6C5470C9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04860-D67C-4F07-94DA-4CE0E5813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953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CD150C-EF95-48DD-83B9-005C0F2748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67AAD-14B3-4B8E-9FB7-94E2B515D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91E66-480D-49A9-970C-B2EE8898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6F65E-A05E-46B1-A15C-0B1D2AA24534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8984C-08B1-47CC-B512-BB5B21524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F46AD-CD8E-4CBA-A199-431E2409A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04860-D67C-4F07-94DA-4CE0E5813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96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2381ED-A146-48C2-985D-87A93F859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E7F8C-7B33-4818-BB9A-29B6C2F36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6DDF9-F2FF-473B-8134-D73394030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6F65E-A05E-46B1-A15C-0B1D2AA24534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C65F0-DC29-4C20-96DF-E518B8F8AA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4E6AB-2A56-46CF-A974-BD2BA5136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04860-D67C-4F07-94DA-4CE0E5813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698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4A75-3CF2-49A9-9F8B-543C12F709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b="1" dirty="0"/>
              <a:t>Telco Customer Churn &amp; Service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12D54-BB65-4510-8A80-61F94F9B19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Customer, Service &amp; Lifecycle Patterns Associated with Churn</a:t>
            </a:r>
          </a:p>
        </p:txBody>
      </p:sp>
    </p:spTree>
    <p:extLst>
      <p:ext uri="{BB962C8B-B14F-4D97-AF65-F5344CB8AC3E}">
        <p14:creationId xmlns:p14="http://schemas.microsoft.com/office/powerpoint/2010/main" val="1100184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F0501-B5B9-4496-AB4C-B2A70BB1F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/>
              <a:t>Business Problem &amp;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8DB77-D515-4C9F-8145-C4A6F3D9F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539"/>
            <a:ext cx="10515600" cy="4723456"/>
          </a:xfrm>
        </p:spPr>
        <p:txBody>
          <a:bodyPr/>
          <a:lstStyle/>
          <a:p>
            <a:pPr marL="0" indent="0">
              <a:buNone/>
            </a:pPr>
            <a:r>
              <a:rPr lang="en-GB" sz="1800" b="1" dirty="0"/>
              <a:t>BUSINESS PROBLEM</a:t>
            </a:r>
          </a:p>
          <a:p>
            <a:pPr marL="0" indent="0">
              <a:buNone/>
            </a:pPr>
            <a:r>
              <a:rPr lang="en-GB" sz="1600"/>
              <a:t>A telecommunications </a:t>
            </a:r>
            <a:r>
              <a:rPr lang="en-GB" sz="1600" dirty="0"/>
              <a:t>company is experiencing customer churn but lacks a clear understanding of the customer, service and lifecycle characteristics associated with customers leaving.</a:t>
            </a:r>
          </a:p>
          <a:p>
            <a:pPr marL="0" indent="0">
              <a:buNone/>
            </a:pPr>
            <a:r>
              <a:rPr lang="en-GB" sz="1600" dirty="0"/>
              <a:t>The analysis focuses on three key business questions: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E484EA-7D2E-48F3-AA3A-6B27A67E4F98}"/>
              </a:ext>
            </a:extLst>
          </p:cNvPr>
          <p:cNvSpPr/>
          <p:nvPr/>
        </p:nvSpPr>
        <p:spPr>
          <a:xfrm>
            <a:off x="838200" y="3006081"/>
            <a:ext cx="3122141" cy="1788341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01 – Customer Characteristics</a:t>
            </a:r>
          </a:p>
          <a:p>
            <a:pPr algn="ctr"/>
            <a:endParaRPr lang="en-GB" dirty="0"/>
          </a:p>
          <a:p>
            <a:pPr algn="ctr"/>
            <a:r>
              <a:rPr lang="en-GB" sz="1400" dirty="0"/>
              <a:t>Which customer characteristics are associated with higher churn?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590E97-8701-4647-B286-88584C4DA2E4}"/>
              </a:ext>
            </a:extLst>
          </p:cNvPr>
          <p:cNvSpPr/>
          <p:nvPr/>
        </p:nvSpPr>
        <p:spPr>
          <a:xfrm>
            <a:off x="4278528" y="3006080"/>
            <a:ext cx="3122142" cy="178834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02 – Service Engagement</a:t>
            </a:r>
          </a:p>
          <a:p>
            <a:pPr algn="ctr"/>
            <a:endParaRPr lang="en-GB" dirty="0"/>
          </a:p>
          <a:p>
            <a:pPr algn="ctr"/>
            <a:r>
              <a:rPr lang="en-GB" sz="1400" dirty="0"/>
              <a:t>How is customer service engagement associated with churn?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486B88-EAA3-45B0-9421-DA2A9FE9B1E7}"/>
              </a:ext>
            </a:extLst>
          </p:cNvPr>
          <p:cNvSpPr/>
          <p:nvPr/>
        </p:nvSpPr>
        <p:spPr>
          <a:xfrm>
            <a:off x="7718857" y="2996170"/>
            <a:ext cx="3122142" cy="179825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03 – Customer Lifecycle &amp; Contract</a:t>
            </a:r>
          </a:p>
          <a:p>
            <a:pPr algn="ctr"/>
            <a:endParaRPr lang="en-GB" dirty="0"/>
          </a:p>
          <a:p>
            <a:pPr algn="ctr"/>
            <a:r>
              <a:rPr lang="en-GB" sz="1400" dirty="0"/>
              <a:t>At what stage of the customer lifecycle is churn most concentrated, and how does contract type relate to this pattern?</a:t>
            </a:r>
          </a:p>
        </p:txBody>
      </p:sp>
    </p:spTree>
    <p:extLst>
      <p:ext uri="{BB962C8B-B14F-4D97-AF65-F5344CB8AC3E}">
        <p14:creationId xmlns:p14="http://schemas.microsoft.com/office/powerpoint/2010/main" val="1260033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1B0995-581D-424B-88BE-41DC27B3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/>
              <a:t>Data &amp; Analytical Approach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3956CE-2DF6-4001-ABE7-433891872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7" y="1690688"/>
            <a:ext cx="10515600" cy="2350959"/>
          </a:xfrm>
        </p:spPr>
        <p:txBody>
          <a:bodyPr/>
          <a:lstStyle/>
          <a:p>
            <a:pPr marL="0" indent="0">
              <a:buNone/>
            </a:pPr>
            <a:r>
              <a:rPr lang="en-GB" sz="1800" b="1" dirty="0"/>
              <a:t>SOURCE DATA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F5D228-9A3A-4FF8-9B7B-279EE74076B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00097" y="4197180"/>
            <a:ext cx="9983233" cy="1773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dirty="0"/>
              <a:t>ANALYTICAL WORKFLOW</a:t>
            </a:r>
          </a:p>
          <a:p>
            <a:pPr marL="0" indent="0">
              <a:buNone/>
            </a:pPr>
            <a:r>
              <a:rPr lang="en-GB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Source Datasets → Data Exploration → Data Cleaning &amp; Validation →  Cleaned Customer-Level Dataset → PostgreSQL → Derived Analytical Fields → SQL Business Analysis → Power BI Dashboard → Findings &amp; Recommendations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200" dirty="0"/>
              <a:t>5 datasets | 7,043 customers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FDAF8AD-347F-4D89-98F2-7BE1E192A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478043"/>
              </p:ext>
            </p:extLst>
          </p:nvPr>
        </p:nvGraphicFramePr>
        <p:xfrm>
          <a:off x="838200" y="2158414"/>
          <a:ext cx="7514969" cy="1715674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1531999">
                  <a:extLst>
                    <a:ext uri="{9D8B030D-6E8A-4147-A177-3AD203B41FA5}">
                      <a16:colId xmlns:a16="http://schemas.microsoft.com/office/drawing/2014/main" val="2679163754"/>
                    </a:ext>
                  </a:extLst>
                </a:gridCol>
                <a:gridCol w="1299449">
                  <a:extLst>
                    <a:ext uri="{9D8B030D-6E8A-4147-A177-3AD203B41FA5}">
                      <a16:colId xmlns:a16="http://schemas.microsoft.com/office/drawing/2014/main" val="3479135342"/>
                    </a:ext>
                  </a:extLst>
                </a:gridCol>
                <a:gridCol w="1181924">
                  <a:extLst>
                    <a:ext uri="{9D8B030D-6E8A-4147-A177-3AD203B41FA5}">
                      <a16:colId xmlns:a16="http://schemas.microsoft.com/office/drawing/2014/main" val="1211850244"/>
                    </a:ext>
                  </a:extLst>
                </a:gridCol>
                <a:gridCol w="3501597">
                  <a:extLst>
                    <a:ext uri="{9D8B030D-6E8A-4147-A177-3AD203B41FA5}">
                      <a16:colId xmlns:a16="http://schemas.microsoft.com/office/drawing/2014/main" val="2731628442"/>
                    </a:ext>
                  </a:extLst>
                </a:gridCol>
              </a:tblGrid>
              <a:tr h="2478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Datasets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Rows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Columns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Purpose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3524295"/>
                  </a:ext>
                </a:extLst>
              </a:tr>
              <a:tr h="2478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Demographics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7,043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9 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Customer demographic characteristics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2334876"/>
                  </a:ext>
                </a:extLst>
              </a:tr>
              <a:tr h="2580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Services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7,043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31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Service usage, tenure, contracts and billing information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0433492"/>
                  </a:ext>
                </a:extLst>
              </a:tr>
              <a:tr h="2478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Status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7,043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12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Customer status and churn information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693703"/>
                  </a:ext>
                </a:extLst>
              </a:tr>
              <a:tr h="2478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Location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7,043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10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Customer geographic information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8972742"/>
                  </a:ext>
                </a:extLst>
              </a:tr>
              <a:tr h="2478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Population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1,671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3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Geographic population information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4249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390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325A06-3164-41AE-82C3-6BFF55542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/>
              <a:t>Key Findings – Customer &amp; Lifecycle Patterns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D3B197-6D22-4CA4-8AC3-50D115D20A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300" dirty="0"/>
              <a:t>60+ → </a:t>
            </a:r>
            <a:r>
              <a:rPr lang="en-GB" sz="2300" b="1" dirty="0"/>
              <a:t>35.4% </a:t>
            </a:r>
          </a:p>
          <a:p>
            <a:pPr marL="0" indent="0">
              <a:buNone/>
            </a:pPr>
            <a:r>
              <a:rPr lang="en-GB" sz="2300" dirty="0"/>
              <a:t>Highest observed churn</a:t>
            </a:r>
          </a:p>
          <a:p>
            <a:pPr marL="0" indent="0">
              <a:buNone/>
            </a:pPr>
            <a:r>
              <a:rPr lang="en-GB" sz="2300" dirty="0"/>
              <a:t>Churn varies across age groups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BC3295-2C17-4FB7-8C26-A531E14617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300" dirty="0"/>
              <a:t>0–12 months → </a:t>
            </a:r>
            <a:r>
              <a:rPr lang="en-GB" sz="2300" b="1" dirty="0"/>
              <a:t>47.4% </a:t>
            </a:r>
          </a:p>
          <a:p>
            <a:pPr marL="0" indent="0">
              <a:buNone/>
            </a:pPr>
            <a:r>
              <a:rPr lang="en-GB" sz="2300" dirty="0"/>
              <a:t>Highest observed churn</a:t>
            </a:r>
          </a:p>
          <a:p>
            <a:pPr marL="0" indent="0">
              <a:buNone/>
            </a:pPr>
            <a:r>
              <a:rPr lang="en-GB" sz="2300" dirty="0"/>
              <a:t>Churn declines as tenure increases in the dataset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AA7398-649C-4B0F-A63E-F74709D0C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8793"/>
            <a:ext cx="4829432" cy="28838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A0245E-78F0-460B-85F2-D6991BDCD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18793"/>
            <a:ext cx="4864772" cy="288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30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0B2D6-5CF7-4E82-888C-EE172CB2C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/>
              <a:t>Key Findings – Contract &amp; Lifecycle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AC7CEF-89DA-4FE4-8391-4D31F00B6ED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643702"/>
            <a:ext cx="5181600" cy="292006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3A27B11-A125-4C58-AD03-90A281A7C5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31460" y="1643701"/>
            <a:ext cx="4318686" cy="2920059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B3E881-B2E6-49A7-B6DE-52BB84CDBC01}"/>
              </a:ext>
            </a:extLst>
          </p:cNvPr>
          <p:cNvSpPr txBox="1"/>
          <p:nvPr/>
        </p:nvSpPr>
        <p:spPr>
          <a:xfrm>
            <a:off x="838200" y="5008605"/>
            <a:ext cx="9945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Month-to-month customers had the highest observed churn across every tenure stage, reaching 53.5% in the first 12 months.</a:t>
            </a:r>
          </a:p>
        </p:txBody>
      </p:sp>
    </p:spTree>
    <p:extLst>
      <p:ext uri="{BB962C8B-B14F-4D97-AF65-F5344CB8AC3E}">
        <p14:creationId xmlns:p14="http://schemas.microsoft.com/office/powerpoint/2010/main" val="3441952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A10CCC2-AAD5-42B5-B8D2-101D10476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/>
              <a:t>Business Recommendations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CA4D1F-0C58-478F-82B5-6D9AB713E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Prioritize further investigation of  early-tenure customers, particularly during the first 12 months, through stronger onboarding and engagement.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Investigate month-to-month customers, as this segment shows substantially higher observed churn across tenure stages.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Investigate high-churn service segments, particularly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Fiber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Optic customers, to understand potential service or experience-related factors.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Use customer segmentation based on age, household status, referrals, services, tenure and contract type to identify groups requiring further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90685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CA574-F3B3-4943-B06E-0E9617004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304B1-2B41-40DD-A3B1-ADEF5BD0E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dataset does not explain why customers churn beyond the available customer and service attributes.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service-related fields contain expected missing values.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analysis does not measure the financial impact or cost of retention actions.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2956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2DC78C7-8C72-4D76-BF02-26878697C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333" y="227859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57853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Symbol</vt:lpstr>
      <vt:lpstr>Office Theme</vt:lpstr>
      <vt:lpstr>Telco Customer Churn &amp; Service Analysis</vt:lpstr>
      <vt:lpstr>Business Problem &amp; Questions</vt:lpstr>
      <vt:lpstr>Data &amp; Analytical Approach</vt:lpstr>
      <vt:lpstr>Key Findings – Customer &amp; Lifecycle Patterns</vt:lpstr>
      <vt:lpstr>Key Findings – Contract &amp; Lifecycle</vt:lpstr>
      <vt:lpstr>Business Recommendations</vt:lpstr>
      <vt:lpstr>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&amp; Service Analysis</dc:title>
  <dc:creator>Keerti Gurung</dc:creator>
  <cp:lastModifiedBy>Keerti Gurung</cp:lastModifiedBy>
  <cp:revision>1</cp:revision>
  <dcterms:created xsi:type="dcterms:W3CDTF">2026-09-26T09:17:09Z</dcterms:created>
  <dcterms:modified xsi:type="dcterms:W3CDTF">2026-09-26T13:04:23Z</dcterms:modified>
</cp:coreProperties>
</file>